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eb92d46-a04b-885a-dd90-d274ba84be51}">
          <p14:sldIdLst>
            <p14:sldId id="256"/>
            <p14:sldId id="257"/>
          </p14:sldIdLst>
        </p14:section>
        <p14:section name="Rules and logic" id="{e6afa562-66a1-e9ea-d958-5ce785be10e4}">
          <p14:sldIdLst>
            <p14:sldId id="258"/>
            <p14:sldId id="259"/>
            <p14:sldId id="260"/>
            <p14:sldId id="261"/>
          </p14:sldIdLst>
        </p14:section>
        <p14:section name="AI" id="{2f7d9745-9203-e3e9-f6d6-3bf66adc872e}">
          <p14:sldIdLst>
            <p14:sldId id="262"/>
          </p14:sldIdLst>
        </p14:section>
        <p14:section name="Next" id="{f77fb0da-9723-9472-68fc-c0b8841bdfa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 is one functionality. Green runs by rules on the phone, amber uses rules first and the AI for one part, violet needs the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Docket 5 · OPS LEGAL TECH · working document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Docket 5: what it does, by rule or by AI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working map to decide what we keep, what runs as simple rules on the phone, and where the assistant's AI is worth its cost.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Functionality map</a:t>
            </a:r>
            <a:endParaRPr lang="en-US" sz="3000" dirty="0"/>
          </a:p>
        </p:txBody>
      </p:sp>
      <p:sp>
        <p:nvSpPr>
          <p:cNvPr id="3" name="group-0"/>
          <p:cNvSpPr/>
          <p:nvPr/>
        </p:nvSpPr>
        <p:spPr>
          <a:xfrm>
            <a:off x="457200" y="1143000"/>
            <a:ext cx="36118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1615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day</a:t>
            </a:r>
            <a:endParaRPr lang="en-US" sz="1500" dirty="0"/>
          </a:p>
        </p:txBody>
      </p:sp>
      <p:sp>
        <p:nvSpPr>
          <p:cNvPr id="5" name="pill-0-0"/>
          <p:cNvSpPr/>
          <p:nvPr/>
        </p:nvSpPr>
        <p:spPr>
          <a:xfrm>
            <a:off x="59436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4193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cells a day</a:t>
            </a:r>
            <a:endParaRPr lang="en-US" sz="1100" dirty="0"/>
          </a:p>
        </p:txBody>
      </p:sp>
      <p:sp>
        <p:nvSpPr>
          <p:cNvPr id="8" name="pill-0-1"/>
          <p:cNvSpPr/>
          <p:nvPr/>
        </p:nvSpPr>
        <p:spPr>
          <a:xfrm>
            <a:off x="228600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74193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Projects &amp; pacing</a:t>
            </a:r>
            <a:endParaRPr lang="en-US" sz="1100" dirty="0"/>
          </a:p>
        </p:txBody>
      </p:sp>
      <p:sp>
        <p:nvSpPr>
          <p:cNvPr id="11" name="pill-0-2"/>
          <p:cNvSpPr/>
          <p:nvPr/>
        </p:nvSpPr>
        <p:spPr>
          <a:xfrm>
            <a:off x="59436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2107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My week (areas)</a:t>
            </a:r>
            <a:endParaRPr lang="en-US" sz="1100" dirty="0"/>
          </a:p>
        </p:txBody>
      </p:sp>
      <p:sp>
        <p:nvSpPr>
          <p:cNvPr id="14" name="pill-0-3"/>
          <p:cNvSpPr/>
          <p:nvPr/>
        </p:nvSpPr>
        <p:spPr>
          <a:xfrm>
            <a:off x="228600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2107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0545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Holidays, office days</a:t>
            </a:r>
            <a:endParaRPr lang="en-US" sz="1100" dirty="0"/>
          </a:p>
        </p:txBody>
      </p:sp>
      <p:sp>
        <p:nvSpPr>
          <p:cNvPr id="17" name="pill-0-4"/>
          <p:cNvSpPr/>
          <p:nvPr/>
        </p:nvSpPr>
        <p:spPr>
          <a:xfrm>
            <a:off x="59436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2473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Calendar cells</a:t>
            </a:r>
            <a:endParaRPr lang="en-US" sz="1100" dirty="0"/>
          </a:p>
        </p:txBody>
      </p:sp>
      <p:sp>
        <p:nvSpPr>
          <p:cNvPr id="20" name="pill-0-5"/>
          <p:cNvSpPr/>
          <p:nvPr/>
        </p:nvSpPr>
        <p:spPr>
          <a:xfrm>
            <a:off x="228600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9152" y="2473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0545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Move a cell</a:t>
            </a:r>
            <a:endParaRPr lang="en-US" sz="1100" dirty="0"/>
          </a:p>
        </p:txBody>
      </p:sp>
      <p:sp>
        <p:nvSpPr>
          <p:cNvPr id="23" name="pill-0-6"/>
          <p:cNvSpPr/>
          <p:nvPr/>
        </p:nvSpPr>
        <p:spPr>
          <a:xfrm>
            <a:off x="59436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283921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Quick things</a:t>
            </a:r>
            <a:endParaRPr lang="en-US" sz="1100" dirty="0"/>
          </a:p>
        </p:txBody>
      </p:sp>
      <p:sp>
        <p:nvSpPr>
          <p:cNvPr id="26" name="pill-0-7"/>
          <p:cNvSpPr/>
          <p:nvPr/>
        </p:nvSpPr>
        <p:spPr>
          <a:xfrm>
            <a:off x="228600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9152" y="283921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0545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Routines</a:t>
            </a:r>
            <a:endParaRPr lang="en-US" sz="1100" dirty="0"/>
          </a:p>
        </p:txBody>
      </p:sp>
      <p:sp>
        <p:nvSpPr>
          <p:cNvPr id="29" name="pill-0-8"/>
          <p:cNvSpPr/>
          <p:nvPr/>
        </p:nvSpPr>
        <p:spPr>
          <a:xfrm>
            <a:off x="594360" y="310896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20497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 buy · errands</a:t>
            </a:r>
            <a:endParaRPr lang="en-US" sz="1100" dirty="0"/>
          </a:p>
        </p:txBody>
      </p:sp>
      <p:sp>
        <p:nvSpPr>
          <p:cNvPr id="32" name="group-1"/>
          <p:cNvSpPr/>
          <p:nvPr/>
        </p:nvSpPr>
        <p:spPr>
          <a:xfrm>
            <a:off x="4160520" y="1143000"/>
            <a:ext cx="36118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25112" y="121615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34" name="pill-1-0"/>
          <p:cNvSpPr/>
          <p:nvPr/>
        </p:nvSpPr>
        <p:spPr>
          <a:xfrm>
            <a:off x="429768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832" y="174193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Phone notifications</a:t>
            </a:r>
            <a:endParaRPr lang="en-US" sz="1100" dirty="0"/>
          </a:p>
        </p:txBody>
      </p:sp>
      <p:sp>
        <p:nvSpPr>
          <p:cNvPr id="37" name="pill-1-1"/>
          <p:cNvSpPr/>
          <p:nvPr/>
        </p:nvSpPr>
        <p:spPr>
          <a:xfrm>
            <a:off x="598932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2472" y="174193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0877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Mail &amp; messages</a:t>
            </a:r>
            <a:endParaRPr lang="en-US" sz="1100" dirty="0"/>
          </a:p>
        </p:txBody>
      </p:sp>
      <p:sp>
        <p:nvSpPr>
          <p:cNvPr id="40" name="pill-1-2"/>
          <p:cNvSpPr/>
          <p:nvPr/>
        </p:nvSpPr>
        <p:spPr>
          <a:xfrm>
            <a:off x="429768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0832" y="210769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1713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Bell: update checks</a:t>
            </a:r>
            <a:endParaRPr lang="en-US" sz="1100" dirty="0"/>
          </a:p>
        </p:txBody>
      </p:sp>
      <p:sp>
        <p:nvSpPr>
          <p:cNvPr id="43" name="pill-1-3"/>
          <p:cNvSpPr/>
          <p:nvPr/>
        </p:nvSpPr>
        <p:spPr>
          <a:xfrm>
            <a:off x="598932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62472" y="2107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0877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 alerts</a:t>
            </a:r>
            <a:endParaRPr lang="en-US" sz="1100" dirty="0"/>
          </a:p>
        </p:txBody>
      </p:sp>
      <p:sp>
        <p:nvSpPr>
          <p:cNvPr id="46" name="pill-1-4"/>
          <p:cNvSpPr/>
          <p:nvPr/>
        </p:nvSpPr>
        <p:spPr>
          <a:xfrm>
            <a:off x="429768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70832" y="247345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1713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Bills · Pay bills cell</a:t>
            </a:r>
            <a:endParaRPr lang="en-US" sz="1100" dirty="0"/>
          </a:p>
        </p:txBody>
      </p:sp>
      <p:sp>
        <p:nvSpPr>
          <p:cNvPr id="49" name="pill-1-5"/>
          <p:cNvSpPr/>
          <p:nvPr/>
        </p:nvSpPr>
        <p:spPr>
          <a:xfrm>
            <a:off x="598932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2472" y="247345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0877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Scan receipts, docs</a:t>
            </a:r>
            <a:endParaRPr lang="en-US" sz="1100" dirty="0"/>
          </a:p>
        </p:txBody>
      </p:sp>
      <p:sp>
        <p:nvSpPr>
          <p:cNvPr id="52" name="pill-1-6"/>
          <p:cNvSpPr/>
          <p:nvPr/>
        </p:nvSpPr>
        <p:spPr>
          <a:xfrm>
            <a:off x="429768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70832" y="283921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1713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Several projects</a:t>
            </a:r>
            <a:endParaRPr lang="en-US" sz="1100" dirty="0"/>
          </a:p>
        </p:txBody>
      </p:sp>
      <p:sp>
        <p:nvSpPr>
          <p:cNvPr id="55" name="pill-1-7"/>
          <p:cNvSpPr/>
          <p:nvPr/>
        </p:nvSpPr>
        <p:spPr>
          <a:xfrm>
            <a:off x="598932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CE8FA"/>
          </a:solidFill>
          <a:ln w="6350">
            <a:solidFill>
              <a:srgbClr val="ECE8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62472" y="2839212"/>
            <a:ext cx="100584" cy="100584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0877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 my mind</a:t>
            </a:r>
            <a:endParaRPr lang="en-US" sz="1100" dirty="0"/>
          </a:p>
        </p:txBody>
      </p:sp>
      <p:sp>
        <p:nvSpPr>
          <p:cNvPr id="58" name="pill-1-8"/>
          <p:cNvSpPr/>
          <p:nvPr/>
        </p:nvSpPr>
        <p:spPr>
          <a:xfrm>
            <a:off x="4297680" y="310896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70832" y="320497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17136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🎤 Voice in forms</a:t>
            </a:r>
            <a:endParaRPr lang="en-US" sz="1100" dirty="0"/>
          </a:p>
        </p:txBody>
      </p:sp>
      <p:sp>
        <p:nvSpPr>
          <p:cNvPr id="61" name="group-2"/>
          <p:cNvSpPr/>
          <p:nvPr/>
        </p:nvSpPr>
        <p:spPr>
          <a:xfrm>
            <a:off x="7863840" y="114300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28432" y="121615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Jimmy (assistant)</a:t>
            </a:r>
            <a:endParaRPr lang="en-US" sz="1500" dirty="0"/>
          </a:p>
        </p:txBody>
      </p:sp>
      <p:sp>
        <p:nvSpPr>
          <p:cNvPr id="63" name="pill-2-0"/>
          <p:cNvSpPr/>
          <p:nvPr/>
        </p:nvSpPr>
        <p:spPr>
          <a:xfrm>
            <a:off x="800100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CE8FA"/>
          </a:solidFill>
          <a:ln w="6350">
            <a:solidFill>
              <a:srgbClr val="ECE8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4152" y="1741932"/>
            <a:ext cx="100584" cy="100584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22045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Chat &amp; changes</a:t>
            </a:r>
            <a:endParaRPr lang="en-US" sz="1100" dirty="0"/>
          </a:p>
        </p:txBody>
      </p:sp>
      <p:sp>
        <p:nvSpPr>
          <p:cNvPr id="66" name="pill-2-1"/>
          <p:cNvSpPr/>
          <p:nvPr/>
        </p:nvSpPr>
        <p:spPr>
          <a:xfrm>
            <a:off x="9692640" y="164592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65792" y="174193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912096" y="16459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✨ Prepare a cell</a:t>
            </a:r>
            <a:endParaRPr lang="en-US" sz="1100" dirty="0"/>
          </a:p>
        </p:txBody>
      </p:sp>
      <p:sp>
        <p:nvSpPr>
          <p:cNvPr id="69" name="pill-2-2"/>
          <p:cNvSpPr/>
          <p:nvPr/>
        </p:nvSpPr>
        <p:spPr>
          <a:xfrm>
            <a:off x="800100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74152" y="210769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2045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Reply drafts</a:t>
            </a:r>
            <a:endParaRPr lang="en-US" sz="1100" dirty="0"/>
          </a:p>
        </p:txBody>
      </p:sp>
      <p:sp>
        <p:nvSpPr>
          <p:cNvPr id="72" name="pill-2-3"/>
          <p:cNvSpPr/>
          <p:nvPr/>
        </p:nvSpPr>
        <p:spPr>
          <a:xfrm>
            <a:off x="9692640" y="2011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CE8FA"/>
          </a:solidFill>
          <a:ln w="6350">
            <a:solidFill>
              <a:srgbClr val="ECE8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65792" y="2107692"/>
            <a:ext cx="100584" cy="100584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912096" y="2011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Draft task, project</a:t>
            </a:r>
            <a:endParaRPr lang="en-US" sz="1100" dirty="0"/>
          </a:p>
        </p:txBody>
      </p:sp>
      <p:sp>
        <p:nvSpPr>
          <p:cNvPr id="75" name="pill-2-4"/>
          <p:cNvSpPr/>
          <p:nvPr/>
        </p:nvSpPr>
        <p:spPr>
          <a:xfrm>
            <a:off x="800100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74152" y="247345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2045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First look (90 days)</a:t>
            </a:r>
            <a:endParaRPr lang="en-US" sz="1100" dirty="0"/>
          </a:p>
        </p:txBody>
      </p:sp>
      <p:sp>
        <p:nvSpPr>
          <p:cNvPr id="78" name="pill-2-5"/>
          <p:cNvSpPr/>
          <p:nvPr/>
        </p:nvSpPr>
        <p:spPr>
          <a:xfrm>
            <a:off x="9692640" y="2377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65792" y="247345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912096" y="2377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Last 30 days</a:t>
            </a:r>
            <a:endParaRPr lang="en-US" sz="1100" dirty="0"/>
          </a:p>
        </p:txBody>
      </p:sp>
      <p:sp>
        <p:nvSpPr>
          <p:cNvPr id="81" name="pill-2-6"/>
          <p:cNvSpPr/>
          <p:nvPr/>
        </p:nvSpPr>
        <p:spPr>
          <a:xfrm>
            <a:off x="800100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74152" y="283921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22045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Next 60 days</a:t>
            </a:r>
            <a:endParaRPr lang="en-US" sz="1100" dirty="0"/>
          </a:p>
        </p:txBody>
      </p:sp>
      <p:sp>
        <p:nvSpPr>
          <p:cNvPr id="84" name="pill-2-7"/>
          <p:cNvSpPr/>
          <p:nvPr/>
        </p:nvSpPr>
        <p:spPr>
          <a:xfrm>
            <a:off x="9692640" y="2743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65792" y="283921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912096" y="2743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Weekly advice</a:t>
            </a:r>
            <a:endParaRPr lang="en-US" sz="1100" dirty="0"/>
          </a:p>
        </p:txBody>
      </p:sp>
      <p:sp>
        <p:nvSpPr>
          <p:cNvPr id="87" name="group-3"/>
          <p:cNvSpPr/>
          <p:nvPr/>
        </p:nvSpPr>
        <p:spPr>
          <a:xfrm>
            <a:off x="457200" y="3794760"/>
            <a:ext cx="3611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21792" y="386791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reviews</a:t>
            </a:r>
            <a:endParaRPr lang="en-US" sz="1500" dirty="0"/>
          </a:p>
        </p:txBody>
      </p:sp>
      <p:sp>
        <p:nvSpPr>
          <p:cNvPr id="89" name="pill-3-0"/>
          <p:cNvSpPr/>
          <p:nvPr/>
        </p:nvSpPr>
        <p:spPr>
          <a:xfrm>
            <a:off x="59436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751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1381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Value bar</a:t>
            </a:r>
            <a:endParaRPr lang="en-US" sz="1100" dirty="0"/>
          </a:p>
        </p:txBody>
      </p:sp>
      <p:sp>
        <p:nvSpPr>
          <p:cNvPr id="92" name="pill-3-1"/>
          <p:cNvSpPr/>
          <p:nvPr/>
        </p:nvSpPr>
        <p:spPr>
          <a:xfrm>
            <a:off x="228600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35915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50545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Flags</a:t>
            </a:r>
            <a:endParaRPr lang="en-US" sz="1100" dirty="0"/>
          </a:p>
        </p:txBody>
      </p:sp>
      <p:sp>
        <p:nvSpPr>
          <p:cNvPr id="95" name="pill-3-2"/>
          <p:cNvSpPr/>
          <p:nvPr/>
        </p:nvSpPr>
        <p:spPr>
          <a:xfrm>
            <a:off x="59436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" y="4759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1381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Daily review</a:t>
            </a:r>
            <a:endParaRPr lang="en-US" sz="1100" dirty="0"/>
          </a:p>
        </p:txBody>
      </p:sp>
      <p:sp>
        <p:nvSpPr>
          <p:cNvPr id="98" name="pill-3-3"/>
          <p:cNvSpPr/>
          <p:nvPr/>
        </p:nvSpPr>
        <p:spPr>
          <a:xfrm>
            <a:off x="228600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59152" y="475945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50545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Weekly review</a:t>
            </a:r>
            <a:endParaRPr lang="en-US" sz="1100" dirty="0"/>
          </a:p>
        </p:txBody>
      </p:sp>
      <p:sp>
        <p:nvSpPr>
          <p:cNvPr id="101" name="pill-3-4"/>
          <p:cNvSpPr/>
          <p:nvPr/>
        </p:nvSpPr>
        <p:spPr>
          <a:xfrm>
            <a:off x="594360" y="5029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FBF1DA"/>
          </a:solidFill>
          <a:ln w="6350">
            <a:solidFill>
              <a:srgbClr val="FBF1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7512" y="5125212"/>
            <a:ext cx="100584" cy="10058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13816" y="5029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Monthly (to build)</a:t>
            </a:r>
            <a:endParaRPr lang="en-US" sz="1100" dirty="0"/>
          </a:p>
        </p:txBody>
      </p:sp>
      <p:sp>
        <p:nvSpPr>
          <p:cNvPr id="104" name="group-4"/>
          <p:cNvSpPr/>
          <p:nvPr/>
        </p:nvSpPr>
        <p:spPr>
          <a:xfrm>
            <a:off x="4160520" y="3794760"/>
            <a:ext cx="3611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325112" y="386791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&amp; documents</a:t>
            </a:r>
            <a:endParaRPr lang="en-US" sz="1500" dirty="0"/>
          </a:p>
        </p:txBody>
      </p:sp>
      <p:sp>
        <p:nvSpPr>
          <p:cNvPr id="106" name="pill-4-0"/>
          <p:cNvSpPr/>
          <p:nvPr/>
        </p:nvSpPr>
        <p:spPr>
          <a:xfrm>
            <a:off x="429768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7083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51713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Expenses &amp; To sort</a:t>
            </a:r>
            <a:endParaRPr lang="en-US" sz="1100" dirty="0"/>
          </a:p>
        </p:txBody>
      </p:sp>
      <p:sp>
        <p:nvSpPr>
          <p:cNvPr id="109" name="pill-4-1"/>
          <p:cNvSpPr/>
          <p:nvPr/>
        </p:nvSpPr>
        <p:spPr>
          <a:xfrm>
            <a:off x="598932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6247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20877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Expense report</a:t>
            </a:r>
            <a:endParaRPr lang="en-US" sz="1100" dirty="0"/>
          </a:p>
        </p:txBody>
      </p:sp>
      <p:sp>
        <p:nvSpPr>
          <p:cNvPr id="112" name="pill-4-2"/>
          <p:cNvSpPr/>
          <p:nvPr/>
        </p:nvSpPr>
        <p:spPr>
          <a:xfrm>
            <a:off x="429768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70832" y="4759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1713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Docs on tasks</a:t>
            </a:r>
            <a:endParaRPr lang="en-US" sz="1100" dirty="0"/>
          </a:p>
        </p:txBody>
      </p:sp>
      <p:sp>
        <p:nvSpPr>
          <p:cNvPr id="115" name="pill-4-3"/>
          <p:cNvSpPr/>
          <p:nvPr/>
        </p:nvSpPr>
        <p:spPr>
          <a:xfrm>
            <a:off x="598932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062472" y="4759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620877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OneDrive saving</a:t>
            </a:r>
            <a:endParaRPr lang="en-US" sz="1100" dirty="0"/>
          </a:p>
        </p:txBody>
      </p:sp>
      <p:sp>
        <p:nvSpPr>
          <p:cNvPr id="118" name="pill-4-4"/>
          <p:cNvSpPr/>
          <p:nvPr/>
        </p:nvSpPr>
        <p:spPr>
          <a:xfrm>
            <a:off x="4297680" y="5029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70832" y="512521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517136" y="5029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Instant search</a:t>
            </a:r>
            <a:endParaRPr lang="en-US" sz="1100" dirty="0"/>
          </a:p>
        </p:txBody>
      </p:sp>
      <p:sp>
        <p:nvSpPr>
          <p:cNvPr id="121" name="group-5"/>
          <p:cNvSpPr/>
          <p:nvPr/>
        </p:nvSpPr>
        <p:spPr>
          <a:xfrm>
            <a:off x="7863840" y="3794760"/>
            <a:ext cx="3611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8028432" y="386791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cost</a:t>
            </a:r>
            <a:endParaRPr lang="en-US" sz="1500" dirty="0"/>
          </a:p>
        </p:txBody>
      </p:sp>
      <p:sp>
        <p:nvSpPr>
          <p:cNvPr id="123" name="pill-5-0"/>
          <p:cNvSpPr/>
          <p:nvPr/>
        </p:nvSpPr>
        <p:spPr>
          <a:xfrm>
            <a:off x="800100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7415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822045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Rule 1: your tap</a:t>
            </a:r>
            <a:endParaRPr lang="en-US" sz="1100" dirty="0"/>
          </a:p>
        </p:txBody>
      </p:sp>
      <p:sp>
        <p:nvSpPr>
          <p:cNvPr id="126" name="pill-5-1"/>
          <p:cNvSpPr/>
          <p:nvPr/>
        </p:nvSpPr>
        <p:spPr>
          <a:xfrm>
            <a:off x="9692640" y="429768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65792" y="439369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9912096" y="42976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Locked memory</a:t>
            </a:r>
            <a:endParaRPr lang="en-US" sz="1100" dirty="0"/>
          </a:p>
        </p:txBody>
      </p:sp>
      <p:sp>
        <p:nvSpPr>
          <p:cNvPr id="129" name="pill-5-2"/>
          <p:cNvSpPr/>
          <p:nvPr/>
        </p:nvSpPr>
        <p:spPr>
          <a:xfrm>
            <a:off x="800100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74152" y="4759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22045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Keys in secure chip</a:t>
            </a:r>
            <a:endParaRPr lang="en-US" sz="1100" dirty="0"/>
          </a:p>
        </p:txBody>
      </p:sp>
      <p:sp>
        <p:nvSpPr>
          <p:cNvPr id="132" name="pill-5-3"/>
          <p:cNvSpPr/>
          <p:nvPr/>
        </p:nvSpPr>
        <p:spPr>
          <a:xfrm>
            <a:off x="9692640" y="466344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65792" y="475945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9912096" y="46634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AI cost &amp; budget</a:t>
            </a:r>
            <a:endParaRPr lang="en-US" sz="1100" dirty="0"/>
          </a:p>
        </p:txBody>
      </p:sp>
      <p:sp>
        <p:nvSpPr>
          <p:cNvPr id="135" name="pill-5-4"/>
          <p:cNvSpPr/>
          <p:nvPr/>
        </p:nvSpPr>
        <p:spPr>
          <a:xfrm>
            <a:off x="8001000" y="5029200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6F3EC"/>
          </a:solidFill>
          <a:ln w="6350">
            <a:solidFill>
              <a:srgbClr val="E6F3E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74152" y="5125212"/>
            <a:ext cx="100584" cy="10058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220456" y="5029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Lighter model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457200" y="5852160"/>
            <a:ext cx="146304" cy="146304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685800" y="5760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Rules on the phone: free, instant, no AI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4160520" y="5852160"/>
            <a:ext cx="146304" cy="146304"/>
          </a:xfrm>
          <a:prstGeom prst="ellipse">
            <a:avLst/>
          </a:prstGeom>
          <a:solidFill>
            <a:srgbClr val="C98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389120" y="5760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Rules first, AI for one part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7863840" y="5852160"/>
            <a:ext cx="146304" cy="146304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8092440" y="5760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Needs the AI (reflection, writing)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 the day: rules on the phone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3520440"/>
                <a:gridCol w="1874520"/>
                <a:gridCol w="27432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Rules and logic today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AI: model · when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 to discuss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Keep / need?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5 cells a day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A task is 1 cell; a project is steps in order (two levels only). Unfinished cells roll over every morning (4:30); a cell not done on its day turns red.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3 big cells a day by default, then learned; the other cells become ⚡ quick batches. Nothing stays red for weeks.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Projects &amp; pacing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Open steps spread over the work days up to the deadline, minus a buffer; holidays skipped; a step waiting for someone's answer waits.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Only when you ask ✨ for steps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Show the end date at the moment of the choice, everywhere a project changes.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My week (areas)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Each area of life has its own days (company A never on a company B day; repairs on weekends). Each task or project belongs to one area.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Every action tied to a project with an intention, home and joy included.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Holidays · office days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No work on public holidays (QC, ON, CA, US, FR). Calls or visits to banks and offices only on office days.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 as is.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Calendar cells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Events show under each day; you choose which take cells. An added event becomes fixed meeting cells; less important work moves.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Ask once per new event in the daily review, not in the day.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Move a cell · quick things · routines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Hold and drop: open cells from today on; fixed days stay; a step keeps its order. Quick things ride along a planned cell (within a max detour). Routines: no clock time, ¼ cell in the balance.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Quick batch cell: up to 8 small actions (emails, calls), each ticked on its own.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To buy · several projects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One list for home and work; a trip is one Errands cell. Several projects: one per line, dates in plain words, read without AI.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✨ steps only if asked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 as is.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Capture: what comes in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3520440"/>
                <a:gridCol w="1874520"/>
                <a:gridCol w="27432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Rules and logic today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AI: model · when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 to discuss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Keep / need?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Phone notifications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Read as they arrive. Outlook notifications are dropped when Outlook is signed in (no double). WhatsApp/SMS dropped when Beeper is on.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Show in Settings what was read today and what was dropped as noise.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Bell: update checks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Only items never analysed before (memory). Newsletters, codes and no-reply mail dropped on the phone. Chats read from your last reply. Duplicates and tasks already on the table removed. Alert only for new cards. Nothing applied without your tap.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Haiku 5.5 · low effort · at most every 30 min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More filtering by rules (known senders, keywords) so fewer items reach the AI at all.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Card &amp; Interac payments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Payment alerts from bank apps and Wallet, read on the phone only. Money received and refunds are never expenses. Kept only once you sort it.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Rename to "Payment notifications" (no card or bank account is connected).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Bills · Pay bills cell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One "Pay bills" cell, the work day before the first due date. Never pays: you tap ✓ Paid, then it becomes an expense. Sorted automatically only when 100% sure, else "To sort".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Haiku 5.5 reads a bill photo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Remind on the due date morning only if still unpaid.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Receipt &amp; document scan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Photo kept small. A receipt already paid goes straight to expenses, area and project pre-picked when clear. Then to OneDrive and off the phone (if chosen).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Haiku 5.5 reads total, taxes, tip, where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Read the store name and date by rules first; AI only for the amounts.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Memory (read once)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Each email and message stored once, encrypted (key in the secure chip), 400 days, 5,000 items. Codes and password emails never kept; card, account and social insurance numbers hidden. Search before reading live.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 (free local search)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Show what the memory saved you this month ("$ not spent").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On my mind · 🎤 in forms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Voice fills only the open form. New cells only take free cells; what is planned never moves for them.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Light model for simple sorting; main model only for a project explanation.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Jimmy: where the AI thinks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3520440"/>
                <a:gridCol w="1874520"/>
                <a:gridCol w="27432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Rules and logic today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AI: model · when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 to discuss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Keep / need?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Chat &amp; table changes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Rule 1: prepares, never sends, accepts, pays or deletes without your tap. New rules checked by a guard (can't add powers). Last 16 messages kept; rules and tools cached.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Opus 5.5 · medium effort ($4 / $20 per M tokens)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Phone checks every proposed plan (capacity, calendar, deadlines, duplicates) before you see it, plus one-tap Undo.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✨ Prepare a cell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A format (canvas) per kind of action, editable. Only your sources, each line cites its source; unknowns marked [to confirm]. Memory first; live mail or Beeper only if fewer than 3 hits.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Opus 5.5 · medium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 the main model; send only the top 5 sources.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Reply drafts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Written into Outlook Drafts, never sent. Meeting times computed on the phone from your table and calendar.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Sonnet 5.5 is enough for short replies.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Draft a task / a project · tidy an idea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Proposes; you review before anything is saved. The project's end date is shown before you confirm.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Haiku for tidying an idea; main model for project steps.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First look · Last 30 days · Next 60 days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First look reads 90 days once. 30 days: invoices and payments missed, never brings back what you dealt with. 60 days: duplicates found on the phone, merged after your yes.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Run on Sonnet 5.5; duplicates and dates fully by rules.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Weekly advice · habits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The app measures 3 facts (never guessed); the AI gives 1 pattern and 1 suggestion, coach style (begin with what went well, a question, never a reproach). One change a week, checked next week.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Keep: this is the psychology the AI is good at.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Progress, reviews, money and safety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3520440"/>
                <a:gridCol w="1874520"/>
                <a:gridCol w="27432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Rules and logic today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AI: model · when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 to discuss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Keep / need?</a:t>
                      </a:r>
                      <a:endParaRPr lang="en-US" sz="11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Value bar (barometer)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Capacity = your done cells (4-week average + 10%). Each value's aim = capacity × its weight. Only done cells count; red cells and pushes cost Organized, Reputation, Money.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Keep; show it in the evening review.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Daily review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Routines of today, tomorrow's events, cells still open. Opens from Progress or a flag.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 today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Notify at your time (18:00); voice; push by 10 / 30 min or "best time?". Short AI talk only if you want it.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Weekly · monthly review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Weekly facts and advice exist, but only announced in the morning note (off by default). Monthly does not exist yet.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3FC4"/>
                          </a:solidFill>
                        </a:rPr>
                        <a:t>Main model · low effort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Settings › Check-ins: daily, weekly, monthly, on by default, each with its time.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Expenses · report · search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Kept with the task or project. "To sort" for expenses without an area. Report as PDF or CSV, sent by you. Search by a few words, instant.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 as is.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Documents &amp; OneDrive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You choose: your OneDrive (safer: files leave the phone) or this phone only (risk shown). Saved in Apps › Docket 5 › area › project › kind. A failed upload stays on the phone and is retried.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Google Drive later (roadmap).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AI cost &amp; budget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Rules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Estimated from what the provider reports. At 80% a warning; at 100% automatic checks pause; what you ask still works.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One line: "This month $3.20 of your $20 · today $0.40".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keep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573"/>
                          </a:solidFill>
                        </a:rPr>
                        <a:t>☐ change</a:t>
                      </a:r>
                      <a:endParaRPr lang="en-US" sz="10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AI is used, and how to make it cheaper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731520"/>
                <a:gridCol w="1737360"/>
                <a:gridCol w="28346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 today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often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Suggestion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Instructions that matter</a:t>
                      </a:r>
                      <a:endParaRPr lang="en-US" sz="11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Chat with Jimmy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Opus 5.5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Each question (several rounds)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Sonnet 5.5 by default; Opus 5.5 only for project planning and coaching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Short cached rules; one question at a time; change nothing until the user says yes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✨ Prepare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Opus 5.5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 tap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Keep; top 5 sources only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Cite every line; [to confirm] for unknowns; the canvas of the action kind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Update checks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Haiku 5.5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At most every 30 min, new items only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More rules before the AI; group items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JSON only; never invent a date or a person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Reading receipts, bills, documents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Haiku 5.5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 scan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Rules for store and date, AI for amounts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JSON only; empty when unsure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Drafts: task, project, reply, idea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Main model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 tap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Haiku for ideas, Sonnet for replies, main for projects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Show the consequence (end date, cells used) with the draft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First look · 30 days · 60 days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Main model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 tap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Sonnet 5.5; duplicates and dates by rules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Never bring back what was dealt with or paid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430"/>
                          </a:solidFill>
                        </a:rPr>
                        <a:t>Weekly and monthly advice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Main model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Once a week / month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Keep the main model (psychology)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</a:rPr>
                        <a:t>Facts from the app; 1 pattern, 1 suggestion, kindly</a:t>
                      </a:r>
                      <a:endParaRPr lang="en-US" sz="10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Prices (per million tokens, in / out):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Opus 5.5 $4 / $20 · Sonnet 5.5 $2 / $10 · Haiku 5.5 $0.10 / $0.50. Cached rules cost a tenth or less. Already done: checks every 30 min at most, memory (read once), lighter model for checks.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Jimmy sending requests to your own agents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Jimmy prepares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a cell or a chat: "Ask the reporting Mate for the monthly file". The request uses the agent's own form (what, for which project, by when).</a:t>
            </a:r>
            <a:endParaRPr lang="en-US" sz="1300" dirty="0"/>
          </a:p>
        </p:txBody>
      </p:sp>
      <p:sp>
        <p:nvSpPr>
          <p:cNvPr id="8" name="step-2"/>
          <p:cNvSpPr/>
          <p:nvPr/>
        </p:nvSpPr>
        <p:spPr>
          <a:xfrm>
            <a:off x="329184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1F7A4D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tap Send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Rule 1 stays: nothing leaves without your tap. You see exactly what goes and to which agent.</a:t>
            </a:r>
            <a:endParaRPr lang="en-US" sz="1300" dirty="0"/>
          </a:p>
        </p:txBody>
      </p:sp>
      <p:sp>
        <p:nvSpPr>
          <p:cNvPr id="13" name="step-3"/>
          <p:cNvSpPr/>
          <p:nvPr/>
        </p:nvSpPr>
        <p:spPr>
          <a:xfrm>
            <a:off x="612648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server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Directly from the phone to your server, by the way your agents accept requests: a web link (API or webhook), an MCP connector, or an email address. Never through OPS LEGAL TECH.</a:t>
            </a:r>
            <a:endParaRPr lang="en-US" sz="1300" dirty="0"/>
          </a:p>
        </p:txBody>
      </p:sp>
      <p:sp>
        <p:nvSpPr>
          <p:cNvPr id="18" name="step-4"/>
          <p:cNvSpPr/>
          <p:nvPr/>
        </p:nvSpPr>
        <p:spPr>
          <a:xfrm>
            <a:off x="896112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508760"/>
            <a:ext cx="548640" cy="548640"/>
          </a:xfrm>
          <a:prstGeom prst="ellipse">
            <a:avLst/>
          </a:prstGeom>
          <a:solidFill>
            <a:srgbClr val="5B3FC4"/>
          </a:solidFill>
          <a:ln w="6350">
            <a:solidFill>
              <a:srgbClr val="5B3F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returns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As a card in the bell, with the report or document attached, saved to the project's folder in OneDrive.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92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 decide: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your agents accept requests (web link, MCP or email), which agents and what each one does, and whether their answers come back by themselves or when Jimmy checks.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ket 5">
  <a:themeElements>
    <a:clrScheme name="Docket 5">
      <a:dk1>
        <a:srgbClr val="1C2430"/>
      </a:dk1>
      <a:lt1>
        <a:srgbClr val="FFFFFF"/>
      </a:lt1>
      <a:dk2>
        <a:srgbClr val="3A4656"/>
      </a:dk2>
      <a:lt2>
        <a:srgbClr val="F1F3F6"/>
      </a:lt2>
      <a:accent1>
        <a:srgbClr val="1F7A4D"/>
      </a:accent1>
      <a:accent2>
        <a:srgbClr val="5B3FC4"/>
      </a:accent2>
      <a:accent3>
        <a:srgbClr val="C98A00"/>
      </a:accent3>
      <a:accent4>
        <a:srgbClr val="1C2430"/>
      </a:accent4>
      <a:accent5>
        <a:srgbClr val="8A94A3"/>
      </a:accent5>
      <a:accent6>
        <a:srgbClr val="D64545"/>
      </a:accent6>
      <a:hlink>
        <a:srgbClr val="5B3FC4"/>
      </a:hlink>
      <a:folHlink>
        <a:srgbClr val="3A4656"/>
      </a:folHlink>
    </a:clrScheme>
    <a:fontScheme name="Docket 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OPS LEGAL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Docket 5: functionalities, rules and AI</dc:title>
  <dc:subject>PptxGenJS Presentation</dc:subject>
  <dc:creator>OPS LEGAL TECH</dc:creator>
  <cp:lastModifiedBy>OPS LEGAL TECH</cp:lastModifiedBy>
  <cp:revision>1</cp:revision>
  <dcterms:created xsi:type="dcterms:W3CDTF">2026-10-21T01:47:58Z</dcterms:created>
  <dcterms:modified xsi:type="dcterms:W3CDTF">2026-10-21T01:47:58Z</dcterms:modified>
</cp:coreProperties>
</file>